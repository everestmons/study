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335" r:id="rId13"/>
    <p:sldId id="336" r:id="rId14"/>
    <p:sldId id="337" r:id="rId15"/>
    <p:sldId id="338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71CDCA-0206-403B-AE29-5DBD559C2D12}">
          <p14:sldIdLst>
            <p14:sldId id="256"/>
            <p14:sldId id="257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335"/>
            <p14:sldId id="336"/>
            <p14:sldId id="337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4F81BD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>
      <p:cViewPr varScale="1">
        <p:scale>
          <a:sx n="76" d="100"/>
          <a:sy n="76" d="100"/>
        </p:scale>
        <p:origin x="532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0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/>
          <a:lstStyle>
            <a:lvl1pPr algn="r">
              <a:defRPr sz="1200"/>
            </a:lvl1pPr>
          </a:lstStyle>
          <a:p>
            <a:fld id="{0BAC27BB-9513-4144-B8D2-22243F50AC5F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1108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1108"/>
            <a:ext cx="3038258" cy="465292"/>
          </a:xfrm>
          <a:prstGeom prst="rect">
            <a:avLst/>
          </a:prstGeom>
        </p:spPr>
        <p:txBody>
          <a:bodyPr vert="horz" lIns="90416" tIns="45208" rIns="90416" bIns="45208" rtlCol="0" anchor="b"/>
          <a:lstStyle>
            <a:lvl1pPr algn="r">
              <a:defRPr sz="1200"/>
            </a:lvl1pPr>
          </a:lstStyle>
          <a:p>
            <a:fld id="{59FDE77F-BA49-4FA4-82A5-09ADC1780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147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08:12.919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 0,'0'7,"0"3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08:17.202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 56,'0'-4,"0"-5,0-9,0 4,0 6,0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15:41.5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28 114,'0'24,"-1"-4,3-35,-2 12,0 1,1-1,-1 1,1-1,0 1,0 0,0-1,0 1,0 0,0 0,0 0,1 0,-1 0,1 0,-1 0,1 0,0 0,0 1,3-3,-4 4,-1-1,1 1,0 0,0 0,0-1,-1 1,1 0,0 0,0 0,0 0,-1 0,1 0,0 0,0 0,0 0,-1 0,1 1,0-1,0 0,0 0,-1 1,2 0,0 0,-1 0,1 1,-1-1,0 1,0-1,0 1,0-1,0 1,0 0,0 0,0-1,-1 1,1 0,0 2,2 11,0 0,-1 0,0 0,-1 0,-1 0,-1 1,0-1,-1 0,-3 16,5-31,0 1,0-1,-1 1,1-1,0 1,0-1,0 1,0-1,0 0,0 1,-1-1,1 1,0-1,0 1,-1-1,1 0,0 1,-1-1,1 0,0 1,-1-1,1 0,0 0,-1 1,1-1,-1 0,1 0,0 0,-1 1,1-1,-1 0,1 0,-1 0,1 0,-1 0,1 0,-1 0,1 0,0 0,-1 0,1 0,-1 0,1 0,-1 0,1-1,-1 1,1 0,0 0,-1 0,1-1,-1 1,1 0,0-1,-1 1,1 0,0-1,-1 1,1 0,0-1,0 1,-1-1,1 1,0 0,0-1,0 1,0-1,-1 1,1-1,0 0,-19-39,17 35,-7-16,2 0,0-1,-7-41,13 56,0 0,1-1,0 1,0 0,1 0,0 0,2-11,-2 15,0 0,1 0,-1 0,0 0,1 1,0-1,-1 0,1 1,0-1,0 1,1-1,-1 1,1 0,-1 0,1 0,-1 0,5-1,-5 2,-1 0,1 0,0 0,0 1,0-1,0 1,0-1,0 1,0 0,0-1,0 1,0 0,0 1,0-1,0 0,0 0,0 1,0-1,0 1,0 0,0 0,-1-1,4 3,-1 0,-1 0,1 1,-1-1,0 1,0-1,0 1,-1 0,1 0,3 9,2 7,-1 1,-1 0,5 29,-11-48,4 20,-2 0,0 1,-1-1,-2 1,0-1,-2 1,0-1,-1 0,-2 0,0-1,-1 1,-12 24,17-43,0 1,0-1,0 1,0-1,0 0,-1 0,1 0,-1 0,0 0,0-1,0 1,0-1,0 0,-5 3,6-4,0-1,1 0,-1 1,0-1,0 0,1 0,-1 0,0 0,0 0,1-1,-1 1,0 0,1-1,-1 1,0-1,1 0,-1 1,1-1,-1 0,1 0,-1 0,1 0,0 0,-1 0,1-1,0 1,0 0,0-1,0 1,0-1,0 1,0-1,1 1,-1-1,0-2,-6-11,2-1,0 1,0-1,2 0,0 0,-1-27,2 4,6-65,-4 98,1 1,0-1,0 1,0-1,1 1,0 0,0 0,0-1,1 1,-1 1,7-9,-7 11,-1 1,1-1,-1 1,1 0,-1 0,1 0,0 0,0 0,0 0,0 0,0 1,0-1,-1 0,2 1,-1 0,0-1,0 1,0 0,0 0,0 0,0 1,0-1,0 0,0 1,0-1,0 1,0 0,0-1,-1 1,1 0,0 0,0 0,-1 1,3 1,3 2,-1 1,0 1,0-1,0 1,-1 0,0 0,0 0,-1 1,0 0,0 0,-1 0,0 0,4 15,-3-4,0 0,-1-1,0 1,-2 1,-1 27,-2-36,1 0,-2 0,0 0,0 0,-1 0,0-1,-8 13,10-18,-1 0,0 0,0 0,0-1,-1 1,1-1,-1 0,0 0,-1 0,1 0,-1-1,1 0,-1 0,0 0,0 0,-7 2,11-5,0 0,0 0,0 0,0 0,0 0,0 0,0 0,0 0,0 0,0 0,0-1,0 1,1 0,-1-1,0 1,0 0,0-1,0 1,1-1,-1 1,0-1,1 0,-1 1,0-1,1 0,-1 0,1 1,-1-1,1 0,-1 0,1 0,-1 0,1 1,0-1,0 0,-1 0,1-2,-4-41,4 37,-1-27,2 1,2-1,0 0,15-54,-14 71,1 0,1 1,1 0,0 0,1 0,0 1,2 0,0 1,0 0,23-23,-29 33,-1 1,1 0,0 0,0 1,0-1,0 1,0 0,1 0,-1 0,5-1,-7 3,-1 0,1-1,-1 1,1 0,-1 0,1 1,-1-1,0 0,1 0,-1 1,1-1,-1 1,0-1,1 1,-1 0,0-1,0 1,0 0,1 0,-1 0,0 0,0 0,0 0,0 0,-1 0,1 0,0 1,0-1,-1 0,1 1,-1-1,1 0,-1 1,1-1,-1 3,6 22,-2 0,-1 1,-1-1,-2 1,0 0,-2-1,-8 47,10-71,-1 1,1 0,-1 0,0 0,0-1,0 1,0 0,0-1,0 1,-1-1,1 1,-1-1,0 0,0 1,0-1,0 0,0 0,0-1,0 1,-1 0,1-1,-1 1,1-1,-1 0,1 0,-1 0,0 0,-5 1,5-2,-1 0,1-1,-1 1,1-1,-1 1,1-1,-1 0,1 0,0-1,0 1,-1-1,1 0,0 0,0 0,1 0,-1 0,0 0,1-1,-1 1,1-1,0 0,-4-5,3 3,0 0,0 0,0-1,1 1,0-1,0 1,0-1,1 0,-1 1,1-1,1 0,-1 0,1 0,0 0,0 0,1 0,1-6,-1 9,0-1,1 1,-1-1,1 1,0 0,0 0,0 0,0 0,0 0,1 1,-1-1,1 1,0-1,0 1,0 0,0 0,0 0,0 0,0 1,1-1,-1 1,1 0,-1 0,1 0,-1 1,1-1,7 1,-6-1,0 2,1-1,-1 0,0 1,1 0,-1 0,0 1,0 0,0-1,0 2,0-1,-1 0,1 1,-1 0,1 0,-1 1,0-1,0 1,0 0,-1 0,0 0,1 0,-1 0,-1 1,1 0,-1-1,4 10,-1-1,-1-1,0 1,-1 0,0 0,-1 0,0 1,-1-1,-1 0,0 1,-2 15,-1-20,1 0,-1 0,0-1,-1 1,0-1,0 0,-1 0,0 0,0-1,-1 0,0 0,-11 11,16-17,0 0,0-1,0 1,0 0,0 0,1-1,-1 1,0-1,-1 1,1-1,0 1,0-1,0 0,0 1,0-1,0 0,0 0,-1 0,1 0,0 0,0 0,0 0,0 0,0-1,-1 1,1 0,0-1,-2 0,1 0,0-1,1 0,-1 0,0 0,0 0,1 0,-1 0,1-1,0 1,0 0,0-1,-1-2,-2-9,0 1,1-1,-2-25,5 21,0-1,0 1,2-1,1 1,7-30,-8 40,0-1,1 1,1 0,-1 0,1 0,0 0,1 0,0 1,0 0,1 0,0 0,0 1,12-10,-15 14,-1 0,1 1,0-1,-1 1,1-1,0 1,0 0,0 0,0 0,0 1,0-1,0 1,0 0,0-1,0 1,0 1,1-1,-1 0,0 1,0 0,0-1,4 3,-3-1,-1 0,1 1,-1-1,1 1,-1 0,0 0,0 0,0 0,0 0,-1 1,0 0,1-1,-1 1,2 7,-1-7,-1 1,0 0,-1-1,1 1,-1 0,0 0,-1 0,1 0,-1 0,0 0,0 0,0 0,-1 0,1 0,-1 0,-1 0,1 0,-1 0,0 0,0-1,0 1,0-1,-1 1,0-1,0 0,0 0,0 0,-6 4,-9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15:47.11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203 692,'0'0,"-1"-1,0 1,0-1,0 1,1-1,-1 0,0 1,1-1,-1 0,0 1,1-1,-1 0,1 0,-1 0,1 1,0-1,-1 0,1 0,0 0,-1 0,1 0,0 0,0 0,0 0,0 1,0-1,0 0,0-1,1-27,-1 28,0 0,0 0,0 0,0 0,0 0,1 1,-1-1,0 0,0 0,1 0,-1 0,0 1,1-1,-1 0,1 0,-1 1,1-1,0 0,-1 1,1-1,0 0,-1 1,1-1,0 1,0-1,-1 1,1-1,0 1,0 0,0 0,0-1,0 1,-1 0,1 0,0 0,0 0,0 0,0 0,2 0,-2 1,0-1,0 1,0 0,0 0,0 0,0 0,0 0,0 0,0 0,0 0,0 0,-1 0,1 1,0-1,-1 0,1 0,-1 1,0-1,1 0,-1 1,0-1,0 0,1 1,-1-1,0 0,-1 3,1 1,-1 0,0 0,0 0,0 0,0 0,-1 0,0-1,0 1,0 0,-1-1,0 0,0 1,0-1,0 0,0 0,-1-1,0 1,-7 5,9-8,0 0,0 0,0 0,0 0,-1 0,1 0,0-1,0 1,0-1,-1 1,1-1,0 0,-1 0,1 0,0 0,0-1,-4 0,3 0,0 0,0-1,0 1,0-1,1 0,-1 0,1 0,-1 0,1 0,0-1,0 1,0-1,0 1,0-1,-3-5,1-2,-1-1,1 1,1-1,0 0,0 0,1 0,0 0,1 0,1 0,0-1,0 1,1 0,0 0,1 0,4-16,-3 18,-1 0,1 1,1-1,-1 1,2 0,-1 0,1 0,0 1,0 0,1 0,0 0,1 1,-1-1,1 2,0-1,0 1,1 0,0 0,13-5,-19 9,1 0,-1 0,1 1,0-1,0 1,-1-1,1 1,0 0,0 0,0 0,-1 0,1 1,0-1,0 1,-1 0,1 0,0 0,-1 0,5 2,-3 0,0 0,0 1,-1-1,1 1,-1-1,1 1,-1 0,0 1,-1-1,3 5,2 6,0 1,-2-1,0 1,-1 0,4 26,-6-26,0 1,-1-1,-1 0,0 1,-5 28,4-41,1-1,-1 0,0 1,0-1,0 0,0 0,-1 0,1 0,-1 0,0 0,0-1,0 1,0 0,0-1,0 0,-1 1,1-1,-1 0,0 0,0-1,1 1,-1 0,0-1,-1 0,1 0,0 0,0 0,0 0,-1 0,1-1,0 0,-1 0,1 0,0 0,-6-1,3 0,0 0,1 0,-1 0,1-1,-1 0,1 0,0-1,0 1,0-1,0 0,0-1,1 1,-7-6,4 1,0 0,0 0,1-1,0 0,1 0,-8-18,3 3,2-1,0 0,2-1,1 0,-2-28,5 37,-1-3,2 0,1-28,0 45,0 0,0-1,0 1,1 0,-1-1,1 1,0 0,0 0,0-1,1 1,-1 0,1 0,0 1,-1-1,1 0,1 1,-1-1,0 1,1-1,-1 1,5-3,-4 4,0 1,0-1,0 0,0 1,0 0,0 0,0 0,0 0,1 1,-1-1,0 1,0-1,0 1,0 0,0 1,-1-1,1 0,0 1,0-1,-1 1,1 0,-1 0,1 0,-1 0,3 5,8 6,0 0,-2 1,11 16,-14-17,0 0,-1 0,0 0,-1 1,-1 0,4 16,-8-26,0 0,0 0,-1 0,0 0,0 0,0 0,0 0,0 0,-1 0,0 0,-2 7,2-9,0 1,-1-1,1 0,-1 0,1 0,-1 0,0-1,1 1,-1 0,0-1,0 1,0-1,-1 1,1-1,0 0,0 0,-1 0,1 0,0-1,-1 1,-2 0,-4 1,0-1,-1 1,1-1,0-1,-1 0,1 0,-1-1,1 0,0-1,0 0,-1 0,-9-5,14 5,-1-1,1 0,0 0,0-1,1 0,-1 0,1 0,0 0,0 0,0-1,1 0,-1 0,1 0,0 0,1 0,-1-1,1 1,0-1,1 0,-2-7,0 0,0-1,1 0,1 0,0-1,1 1,1 0,0 0,1 0,0 0,1 0,1 0,0 1,0 0,2-1,0 2,0-1,1 1,1 0,0 0,0 1,1 0,1 0,0 1,0 1,1-1,0 2,20-13,-28 20,0-1,0 0,0 0,0 1,0 0,0 0,0 0,1 0,-1 0,0 0,1 1,-1 0,1 0,-1 0,0 0,1 0,-1 0,1 1,-1 0,0 0,0 0,1 0,-1 0,0 1,0-1,3 3,-2 0,0 0,0 0,-1 0,1 1,-1-1,0 1,0 0,-1 0,0 0,0 0,0 1,0-1,-1 0,0 1,1 8,3 34,-2-1,-2 1,-10 84,9-127,-1 0,1 0,-1 0,-1 0,1 0,-1-1,0 1,0 0,0-1,-1 0,1 1,-1-1,0 0,0-1,-1 1,1 0,-1-1,0 0,1 0,-2 0,1 0,0 0,0-1,-1 0,0 0,1 0,-1-1,0 1,0-1,0 0,1-1,-1 1,0-1,0 0,-8-1,6 0,0 1,1-2,-1 1,1-1,-1 0,1 0,0-1,0 0,0 0,0 0,0-1,1 0,-1 0,1 0,0-1,1 1,-1-1,1-1,0 1,0 0,0-1,1 0,0 0,0 0,1 0,-3-8,3 4,0 1,1-1,0 1,1-1,0 1,0-1,1 1,1-1,-1 1,1 0,1-1,0 1,0 0,1 1,0-1,6-8,-2 4,0 1,1 1,1 0,-1 0,2 0,0 2,0-1,1 1,23-13,-32 20,-1 1,0-1,1 1,0 0,-1 0,1 0,0 0,-1 0,1 0,0 1,0-1,0 1,0 0,-1 0,1 0,0 0,0 1,0-1,0 1,-1 0,1-1,0 1,-1 0,5 3,-4-1,1 0,-1 0,0 0,0 1,-1-1,1 1,-1 0,0 0,0 0,0 0,0 0,-1 0,1 0,-1 1,1 4,4 23,-2 0,-1 0,-1 0,-1 0,-2 0,-2 1,-6 32,6-57,0 1,0-1,-1-1,-1 1,1 0,-1-1,0 0,-1 0,1-1,-1 1,-1-1,1 0,-1-1,0 0,-1 0,1 0,-1-1,0 0,0-1,-15 5,18-6,0 0,0-1,0 0,1 0,-1-1,-1 1,1-1,0 0,0 0,0-1,0 1,0-1,0 0,1-1,-1 1,0-1,0 0,1 0,-1 0,1-1,0 1,0-1,0 0,0-1,0 1,1-1,-1 1,1-1,0 0,0 0,0-1,1 1,-1 0,1-1,0 0,-2-7,-1-4,1-1,1 0,0 1,1-1,0 0,2 0,0-1,1 1,1 0,0 0,1 1,1-1,1 1,0-1,15-29,-14 33,2 1,0-1,0 1,1 1,1 0,0 0,0 1,1 0,0 1,1 0,0 0,0 2,1-1,0 2,0 0,1 0,0 1,27-6,-36 10,-1 0,1 0,0 0,0 1,0-1,-1 1,1 0,0 1,0-1,0 1,-1 0,1 0,0 1,-1-1,1 1,-1 0,1 0,-1 1,0-1,0 1,0 0,0 0,-1 0,1 0,-1 1,0 0,0-1,0 1,0 0,-1 1,1-1,-1 0,0 1,-1-1,1 1,-1 0,0-1,1 8,3 8,-2 0,0 0,-1 0,-1 0,-1 1,-1-1,-1 0,0 0,-6 20,6-31,-1-1,1 0,-2 0,1 0,-1-1,0 1,-1-1,1 0,-1 0,-1-1,1 1,-1-1,-1 0,1-1,-1 1,0-1,0-1,0 1,0-1,-1 0,0-1,0 0,-16 4,19-6,1 0,-1 0,0-1,1 0,-1 1,0-2,1 1,-1 0,0-1,1 0,-1 0,1 0,-1-1,1 0,0 1,-7-5,6 2,-1 0,1-1,0 1,0-1,1 0,-1 0,1-1,0 0,1 1,-5-9,1-3,0 0,1-1,1 0,0 0,2 0,0-1,-1-25,3 28,1 0,1-1,0 1,2 0,-1 0,2 0,0 0,1 0,0 1,2 0,0 0,0 1,1-1,1 2,0-1,22-23,-28 34,0 0,0 1,0-1,0 1,0 0,0 0,0 0,1 0,-1 0,1 1,0-1,-1 1,1 0,0 0,0 1,-1-1,1 1,0 0,0 0,0 0,5 1,-4 1,0 0,-1 0,1 0,0 1,-1-1,0 1,0 0,1 1,-2-1,1 1,0 0,-1 0,6 8,4 8,-2 1,0 1,-1-1,-1 2,10 36,-9-22,-1 0,-2 1,-2 0,-1 0,-2 0,-4 44,1-77,0 1,0 0,-1 0,0-1,-1 1,1-1,-1 0,0 0,0 0,0 0,-1 0,0-1,0 1,0-1,-1 0,1 0,-1-1,0 1,0-1,0 0,0-1,0 1,-10 2,9-2,0-1,0-1,-1 1,1-1,0 0,-1 0,1-1,-1 0,1 0,-1 0,1-1,-1 0,1-1,0 1,-1-1,1 0,0-1,0 1,1-1,-1 0,-6-5,0-4,1 0,0-1,0 0,1-1,1 0,1 0,0-1,1 0,0-1,1 1,1-1,0-1,1 1,-2-23,6 36,-1 0,1-1,0 1,0 0,0-1,0 1,1 0,0 0,-1 0,1-1,0 1,0 0,1 0,-1 0,0 0,1 1,0-1,0 0,0 1,2-4,0 4,-1-1,1 1,0-1,0 1,0 0,0 1,0-1,0 1,1-1,-1 1,0 1,1-1,4 0,5 1,1 0,-1 1,0 1,0 0,0 0,0 2,0 0,16 6,-22-6,0 0,0 1,0-1,-1 2,1-1,-1 1,-1 0,1 0,-1 1,0 0,0 0,-1 0,0 1,0 0,6 13,-10-17,1 0,-1 1,0-1,0 1,-1-1,1 1,-1-1,0 1,0 0,-1-1,1 1,-1-1,0 1,0-1,-1 1,1-1,-1 0,0 0,0 0,0 0,-1 0,1 0,-1 0,0-1,0 1,0-1,-1 0,1 0,-1 0,1-1,-1 1,-5 2,0 0,-1 0,0 0,-1-1,1-1,-1 0,1 0,-1-1,0 0,0 0,0-2,0 1,0-1,0-1,0 0,0-1,0 0,-14-4,22 5,1 0,-1-1,1 1,-1 0,1-1,0 1,0-1,0 0,0 0,0 0,0 0,0 0,1 0,-1 0,1-1,-1 1,0-4,-6-17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7T23:49:30.586"/>
    </inkml:context>
    <inkml:brush xml:id="br0">
      <inkml:brushProperty name="width" value="0.025" units="cm"/>
      <inkml:brushProperty name="height" value="0.025" units="cm"/>
      <inkml:brushProperty name="color" value="#008C3A"/>
      <inkml:brushProperty name="ignorePressure" value="1"/>
    </inkml:brush>
  </inkml:definitions>
  <inkml:trace contextRef="#ctx0" brushRef="#br0">54 0,'0'4,"0"8,0 7,0 6,0 8,0 5,-7 4,-3-2,1-4,1 4,3-2,-2-7,0-9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7T23:49:31.209"/>
    </inkml:context>
    <inkml:brush xml:id="br0">
      <inkml:brushProperty name="width" value="0.025" units="cm"/>
      <inkml:brushProperty name="height" value="0.025" units="cm"/>
      <inkml:brushProperty name="color" value="#008C3A"/>
      <inkml:brushProperty name="ignorePressure" value="1"/>
    </inkml:brush>
  </inkml:definitions>
  <inkml:trace contextRef="#ctx0" brushRef="#br0">0 0,'0'8,"0"10,0 9,0 7,0 3,0 1,8-5,13-12,11-9,7-11,5-6,-5-9,-6-2,-8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7T23:49:31.569"/>
    </inkml:context>
    <inkml:brush xml:id="br0">
      <inkml:brushProperty name="width" value="0.025" units="cm"/>
      <inkml:brushProperty name="height" value="0.025" units="cm"/>
      <inkml:brushProperty name="color" value="#008C3A"/>
      <inkml:brushProperty name="ignorePressure" value="1"/>
    </inkml:brush>
  </inkml:definitions>
  <inkml:trace contextRef="#ctx0" brushRef="#br0">110 1,'-8'7,"-2"7,-3 8,0 8,3 6,-5 9,1 0,2-4,3-1,4 0,6-7,3-9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4.884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270 0,'-11'1,"1"0,1 1,-1 1,0-1,0 1,1 1,0 0,-1 0,2 1,-1 0,0 1,1 0,0 0,-7 7,1 0,0 1,1 0,1 1,0 0,1 1,-14 26,21-34,0 1,1-1,0 1,1 0,-1 0,2 0,-1 0,1 1,0 10,1-18,0 1,1-1,-1 1,0-1,1 1,-1-1,1 1,0-1,0 0,0 1,0-1,0 0,1 0,-1 0,0 0,1 0,0 0,-1 0,1 0,0-1,0 1,0-1,0 1,0-1,1 0,-1 0,0 0,1 0,-1 0,0 0,1-1,-1 1,1-1,-1 0,1 0,-1 0,4 0,2 0,0-1,-1 0,1 0,-1-1,1 0,-1 0,0-1,1 0,-2 0,1-1,0 0,9-6,2-7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5.266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0 71,'8'0,"10"0,1-4,2 0,-2-5,-6-3,-3-9,-13 5,-12 11,-4 15,1 13,4 6,8-2,17-5,9-10,6-15,5-11,-2-2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5.620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0 1,'0'7,"0"11,0 5,0-4,4-10,1-6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5.982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3 186,'-1'-32,"0"11,0 1,4-27,-3 44,1-1,-1 1,1 0,-1-1,1 1,0 0,1-1,-1 1,0 0,1 0,0 0,0 0,0 0,0 1,0-1,0 0,1 1,-1 0,7-4,-9 5,1 1,0 0,-1-1,1 1,0 0,0 0,-1 0,1 0,0 0,0 0,-1 0,1 0,0 0,0 0,-1 0,1 0,0 0,0 1,-1-1,1 0,0 1,-1-1,1 0,0 1,-1-1,1 1,-1-1,1 1,-1-1,1 1,-1 0,1-1,-1 1,1-1,-1 1,0 0,1-1,-1 1,0 0,0 0,0-1,1 1,-1 0,0 1,6 38,-6-37,1 227,-2-132,0-69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6.384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34 125,'0'4,"0"4,0 6,-4-1,-1 6,-3 7,-1-5,2-6</inkml:trace>
  <inkml:trace contextRef="#ctx0" brushRef="#br0" timeOffset="1">57 15,'0'-4,"3"-1,2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6.716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 1,'0'11,"0"8,0 4,0 6,0 6,0-8,0-11,0-13,0-14,4-5,8 0,3 6,-2 13,-2 10,0 2,1-2,0-9,-2-7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17.052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158 1,'0'4,"4"1,1 7,0 9,-1 5,-1 6,-1 4,-1 0,-1-2,-11 8,-23 16,-32 20,-5-3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36.432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0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37.114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0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37.634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11T21:24:37.965"/>
    </inkml:context>
    <inkml:brush xml:id="br0">
      <inkml:brushProperty name="width" value="0.025" units="cm"/>
      <inkml:brushProperty name="height" value="0.025" units="cm"/>
      <inkml:brushProperty name="color" value="#5B2D90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28B4C-041C-4A8D-86C2-C0DBF68051C6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21D87-4B68-4CA3-A608-ED07C83E42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2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CA798-3FBC-F64E-9D65-FA72ECA7A6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31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Autofit/>
          </a:bodyPr>
          <a:lstStyle>
            <a:lvl1pPr>
              <a:defRPr sz="6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A00E3E9-6F5A-4857-BBF4-648584E3CFD6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9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0"/>
            <a:ext cx="11785600" cy="715962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11988800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864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BC91276-C46D-46E1-8D81-E1C357D50BEA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8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563562"/>
          </a:xfrm>
        </p:spPr>
        <p:txBody>
          <a:bodyPr>
            <a:noAutofit/>
          </a:bodyPr>
          <a:lstStyle>
            <a:lvl1pPr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685801"/>
            <a:ext cx="5791200" cy="5440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685801"/>
            <a:ext cx="5791200" cy="5440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403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DCCBA44-956C-44B6-AD41-7EEBD01FC53B}" type="datetime1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836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033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1B8C2C5-C7AC-4EB9-B7A2-32DB6EDE6707}" type="datetime1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2B984EF-9004-4909-8B0B-57AA912705E4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5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0A4D465-01A9-4EBB-BE72-387DF8B7FDE5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8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0E174CB-19D1-42B6-987D-D23A0EDFA3AE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0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E12605C-5AD6-41D2-A179-58B399C67977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BAC7AA1-CB0B-41E8-91FD-7195DFD03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8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" y="0"/>
            <a:ext cx="119888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" y="792162"/>
            <a:ext cx="11988800" cy="606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591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6.png"/><Relationship Id="rId18" Type="http://schemas.openxmlformats.org/officeDocument/2006/relationships/customXml" Target="../ink/ink16.xml"/><Relationship Id="rId3" Type="http://schemas.openxmlformats.org/officeDocument/2006/relationships/image" Target="../media/image110.png"/><Relationship Id="rId21" Type="http://schemas.openxmlformats.org/officeDocument/2006/relationships/customXml" Target="../ink/ink18.xml"/><Relationship Id="rId7" Type="http://schemas.openxmlformats.org/officeDocument/2006/relationships/image" Target="../media/image13.png"/><Relationship Id="rId12" Type="http://schemas.openxmlformats.org/officeDocument/2006/relationships/customXml" Target="../ink/ink13.xml"/><Relationship Id="rId17" Type="http://schemas.openxmlformats.org/officeDocument/2006/relationships/image" Target="../media/image7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5.png"/><Relationship Id="rId5" Type="http://schemas.openxmlformats.org/officeDocument/2006/relationships/image" Target="../media/image120.png"/><Relationship Id="rId15" Type="http://schemas.openxmlformats.org/officeDocument/2006/relationships/image" Target="../media/image17.png"/><Relationship Id="rId10" Type="http://schemas.openxmlformats.org/officeDocument/2006/relationships/customXml" Target="../ink/ink12.xml"/><Relationship Id="rId19" Type="http://schemas.openxmlformats.org/officeDocument/2006/relationships/customXml" Target="../ink/ink17.xml"/><Relationship Id="rId4" Type="http://schemas.openxmlformats.org/officeDocument/2006/relationships/customXml" Target="../ink/ink9.xml"/><Relationship Id="rId9" Type="http://schemas.openxmlformats.org/officeDocument/2006/relationships/image" Target="../media/image14.png"/><Relationship Id="rId14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ICS 240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Array and List Search (mostly review of CS-1 (ICS 141) 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26C96-0A4F-4CED-A177-95B18F8A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5924551"/>
            <a:ext cx="6400800" cy="796925"/>
          </a:xfrm>
        </p:spPr>
        <p:txBody>
          <a:bodyPr/>
          <a:lstStyle/>
          <a:p>
            <a:r>
              <a:rPr lang="en-US" sz="1600" dirty="0"/>
              <a:t>Mike Stein, ICS 240, Metro State U</a:t>
            </a:r>
          </a:p>
          <a:p>
            <a:r>
              <a:rPr lang="en-US" sz="1600" dirty="0"/>
              <a:t>Some drawings and slides courtesy of Thanaa Ghanem, chair, CSC dept.</a:t>
            </a:r>
          </a:p>
          <a:p>
            <a:r>
              <a:rPr lang="en-US" sz="1600" dirty="0"/>
              <a:t>Purple code from Sedgewick, Algorithms, 4e</a:t>
            </a:r>
          </a:p>
        </p:txBody>
      </p:sp>
    </p:spTree>
    <p:extLst>
      <p:ext uri="{BB962C8B-B14F-4D97-AF65-F5344CB8AC3E}">
        <p14:creationId xmlns:p14="http://schemas.microsoft.com/office/powerpoint/2010/main" val="325729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15"/>
    </mc:Choice>
    <mc:Fallback xmlns="">
      <p:transition spd="slow" advTm="158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F93B-69E9-460D-A1F7-50EF7448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DB2BF-EA23-4C3A-8573-E289E945B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review searches that can be used for arrays and </a:t>
            </a:r>
            <a:r>
              <a:rPr lang="en-US"/>
              <a:t>(possibly) </a:t>
            </a:r>
            <a:r>
              <a:rPr lang="en-US" dirty="0"/>
              <a:t>linked lists</a:t>
            </a:r>
          </a:p>
          <a:p>
            <a:pPr lvl="1"/>
            <a:r>
              <a:rPr lang="en-US" dirty="0"/>
              <a:t>Sequential search</a:t>
            </a:r>
          </a:p>
          <a:p>
            <a:pPr lvl="1"/>
            <a:r>
              <a:rPr lang="en-US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94500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C21B-F8F3-4F69-A42D-08F8DEA5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5E767-1784-46D6-8BEB-CD2D4E1A7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(review/expansion of previous course)</a:t>
            </a:r>
          </a:p>
          <a:p>
            <a:pPr lvl="1"/>
            <a:r>
              <a:rPr lang="en-US" dirty="0"/>
              <a:t>Serial search</a:t>
            </a:r>
          </a:p>
          <a:p>
            <a:pPr lvl="1"/>
            <a:r>
              <a:rPr lang="en-US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11486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472A-DE20-451D-99E7-985453BE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7298C-D0EE-48F4-94A0-87E2C6553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something in a data structure</a:t>
            </a:r>
          </a:p>
          <a:p>
            <a:pPr lvl="1"/>
            <a:r>
              <a:rPr lang="en-US" dirty="0"/>
              <a:t>Normally a List of some sort</a:t>
            </a:r>
          </a:p>
          <a:p>
            <a:pPr lvl="2"/>
            <a:r>
              <a:rPr lang="en-US" dirty="0"/>
              <a:t>Array/</a:t>
            </a:r>
            <a:r>
              <a:rPr lang="en-US" dirty="0" err="1"/>
              <a:t>ArrayList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Linked List</a:t>
            </a:r>
          </a:p>
          <a:p>
            <a:pPr lvl="1"/>
            <a:r>
              <a:rPr lang="en-US" dirty="0"/>
              <a:t>Occasionally a tree (later this semester)</a:t>
            </a:r>
          </a:p>
          <a:p>
            <a:r>
              <a:rPr lang="en-US" dirty="0"/>
              <a:t>Types of list search</a:t>
            </a:r>
          </a:p>
          <a:p>
            <a:pPr lvl="1"/>
            <a:r>
              <a:rPr lang="en-US" dirty="0"/>
              <a:t>Serial search</a:t>
            </a:r>
          </a:p>
          <a:p>
            <a:pPr lvl="2"/>
            <a:r>
              <a:rPr lang="en-US" dirty="0"/>
              <a:t>A.k.a. linear or sequential search</a:t>
            </a:r>
          </a:p>
          <a:p>
            <a:pPr lvl="1"/>
            <a:r>
              <a:rPr lang="en-US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425408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61B2-BAD6-42BB-A0B6-AC4F5C9C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9926-0423-4A07-BB29-CE3E941B8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through every element of the list.</a:t>
            </a:r>
          </a:p>
          <a:p>
            <a:r>
              <a:rPr lang="en-US" dirty="0"/>
              <a:t>If you find what you want, return it.</a:t>
            </a:r>
          </a:p>
          <a:p>
            <a:r>
              <a:rPr lang="en-US" dirty="0"/>
              <a:t>If you don’t find what you want, perform appropriate action for item not found.</a:t>
            </a:r>
          </a:p>
          <a:p>
            <a:pPr lvl="1"/>
            <a:r>
              <a:rPr lang="en-US" dirty="0"/>
              <a:t>e.g., return null or special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8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71BE-77D3-4838-84B0-45DEE2C2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Search Array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D379-2A6A-4DAD-A0DC-443DE04FD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solidFill>
                  <a:srgbClr val="00B050"/>
                </a:solidFill>
                <a:latin typeface="Consolas" panose="020B0609020204030204" pitchFamily="49" charset="0"/>
              </a:rPr>
              <a:t>//return the index of the first occurrence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solidFill>
                  <a:srgbClr val="00B050"/>
                </a:solidFill>
                <a:latin typeface="Consolas" panose="020B0609020204030204" pitchFamily="49" charset="0"/>
              </a:rPr>
              <a:t>//of </a:t>
            </a:r>
            <a:r>
              <a:rPr lang="en-US" altLang="x-none" sz="1800" dirty="0">
                <a:solidFill>
                  <a:srgbClr val="FF0000"/>
                </a:solidFill>
                <a:latin typeface="Consolas" panose="020B0609020204030204" pitchFamily="49" charset="0"/>
              </a:rPr>
              <a:t>target</a:t>
            </a:r>
            <a:r>
              <a:rPr lang="en-US" altLang="x-none" sz="1800" dirty="0">
                <a:solidFill>
                  <a:srgbClr val="00B050"/>
                </a:solidFill>
                <a:latin typeface="Consolas" panose="020B0609020204030204" pitchFamily="49" charset="0"/>
              </a:rPr>
              <a:t> of type “Data” in </a:t>
            </a:r>
            <a:r>
              <a:rPr lang="en-US" altLang="x-none" sz="1800" dirty="0">
                <a:solidFill>
                  <a:srgbClr val="FF0000"/>
                </a:solidFill>
                <a:latin typeface="Consolas" panose="020B0609020204030204" pitchFamily="49" charset="0"/>
              </a:rPr>
              <a:t>data</a:t>
            </a:r>
            <a:r>
              <a:rPr lang="en-US" altLang="x-none" sz="1800" dirty="0">
                <a:solidFill>
                  <a:srgbClr val="00B050"/>
                </a:solidFill>
                <a:latin typeface="Consolas" panose="020B0609020204030204" pitchFamily="49" charset="0"/>
              </a:rPr>
              <a:t> or -1 if </a:t>
            </a:r>
            <a:r>
              <a:rPr lang="en-US" altLang="x-none" sz="1800" dirty="0">
                <a:solidFill>
                  <a:srgbClr val="FF0000"/>
                </a:solidFill>
                <a:latin typeface="Consolas" panose="020B0609020204030204" pitchFamily="49" charset="0"/>
              </a:rPr>
              <a:t>target</a:t>
            </a:r>
            <a:r>
              <a:rPr lang="en-US" altLang="x-none" sz="1800" dirty="0">
                <a:solidFill>
                  <a:srgbClr val="00B050"/>
                </a:solidFill>
                <a:latin typeface="Consolas" panose="020B0609020204030204" pitchFamily="49" charset="0"/>
              </a:rPr>
              <a:t> not found in  </a:t>
            </a:r>
            <a:r>
              <a:rPr lang="en-US" altLang="x-none" sz="1800" dirty="0">
                <a:solidFill>
                  <a:srgbClr val="FF0000"/>
                </a:solidFill>
                <a:latin typeface="Consolas" panose="020B0609020204030204" pitchFamily="49" charset="0"/>
              </a:rPr>
              <a:t>data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altLang="x-none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public &lt;E&gt; </a:t>
            </a:r>
            <a:r>
              <a:rPr lang="en-US" altLang="x-none" sz="1800" dirty="0" err="1">
                <a:latin typeface="Consolas" panose="020B0609020204030204" pitchFamily="49" charset="0"/>
              </a:rPr>
              <a:t>serialSearch</a:t>
            </a:r>
            <a:r>
              <a:rPr lang="en-US" altLang="x-none" sz="1800" dirty="0">
                <a:latin typeface="Consolas" panose="020B0609020204030204" pitchFamily="49" charset="0"/>
              </a:rPr>
              <a:t>(&lt;E&gt;[] data, &lt;E&gt; target){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    for(int i = 0; i &lt; </a:t>
            </a:r>
            <a:r>
              <a:rPr lang="en-US" altLang="x-none" sz="1800" dirty="0" err="1">
                <a:latin typeface="Consolas" panose="020B0609020204030204" pitchFamily="49" charset="0"/>
              </a:rPr>
              <a:t>data.length</a:t>
            </a:r>
            <a:r>
              <a:rPr lang="en-US" altLang="x-none" sz="1800" dirty="0">
                <a:latin typeface="Consolas" panose="020B0609020204030204" pitchFamily="49" charset="0"/>
              </a:rPr>
              <a:t>; i++){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        if( data[i].equals( target ) ){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            return data[i];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        )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    return null;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x-none" sz="18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400" dirty="0"/>
              <a:t>You could also return the index of the element in the array.</a:t>
            </a:r>
          </a:p>
          <a:p>
            <a:r>
              <a:rPr lang="en-US" sz="2400" dirty="0"/>
              <a:t>Note that all the operations are constant time.  </a:t>
            </a:r>
          </a:p>
          <a:p>
            <a:r>
              <a:rPr lang="en-US" sz="2400" dirty="0"/>
              <a:t>The running time will be driven by the number of comparisons made.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1B56AD-3826-40C3-B948-7E4B05744AEC}"/>
                  </a:ext>
                </a:extLst>
              </p14:cNvPr>
              <p14:cNvContentPartPr/>
              <p14:nvPr/>
            </p14:nvContentPartPr>
            <p14:xfrm>
              <a:off x="2604736" y="1454948"/>
              <a:ext cx="360" cy="6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1B56AD-3826-40C3-B948-7E4B05744A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0416" y="1450628"/>
                <a:ext cx="900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D208D08-7309-439A-83B8-DE1F736757DD}"/>
                  </a:ext>
                </a:extLst>
              </p14:cNvPr>
              <p14:cNvContentPartPr/>
              <p14:nvPr/>
            </p14:nvContentPartPr>
            <p14:xfrm>
              <a:off x="4592656" y="2739068"/>
              <a:ext cx="360" cy="20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D208D08-7309-439A-83B8-DE1F736757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8336" y="2734748"/>
                <a:ext cx="9000" cy="2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016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A9AB-6C5C-4212-A582-660E15B4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Serial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5FA2F-9429-4F39-85EF-46585B8BD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List of n elements, </a:t>
            </a:r>
          </a:p>
          <a:p>
            <a:pPr lvl="1"/>
            <a:r>
              <a:rPr lang="en-US" dirty="0"/>
              <a:t>The best case is when the first element you view is the target.</a:t>
            </a:r>
          </a:p>
          <a:p>
            <a:pPr lvl="2"/>
            <a:r>
              <a:rPr lang="en-US" dirty="0"/>
              <a:t>1 comparison</a:t>
            </a:r>
          </a:p>
          <a:p>
            <a:pPr lvl="1"/>
            <a:r>
              <a:rPr lang="en-US" dirty="0"/>
              <a:t>The worst case is when the last element you view is the target, or the target is not found in the array.</a:t>
            </a:r>
          </a:p>
          <a:p>
            <a:pPr lvl="2"/>
            <a:r>
              <a:rPr lang="en-US" dirty="0"/>
              <a:t>n comparisons</a:t>
            </a:r>
          </a:p>
          <a:p>
            <a:pPr lvl="1"/>
            <a:r>
              <a:rPr lang="en-US" dirty="0"/>
              <a:t>What is the average case?  It really depends on the probability of searching for each element.</a:t>
            </a:r>
          </a:p>
          <a:p>
            <a:pPr lvl="1"/>
            <a:r>
              <a:rPr lang="en-US" dirty="0"/>
              <a:t>If we assume that we are equally likely to find the element at each position (counting “not found” as part of the last position) we have the mean running time is (</a:t>
            </a:r>
            <a:r>
              <a:rPr lang="en-US" dirty="0">
                <a:sym typeface="Symbol" panose="05050102010706020507" pitchFamily="18" charset="2"/>
              </a:rPr>
              <a:t></a:t>
            </a:r>
            <a:r>
              <a:rPr lang="en-US" baseline="30000" dirty="0" err="1">
                <a:sym typeface="Symbol" panose="05050102010706020507" pitchFamily="18" charset="2"/>
              </a:rPr>
              <a:t>n</a:t>
            </a:r>
            <a:r>
              <a:rPr lang="en-US" baseline="-25000" dirty="0" err="1">
                <a:sym typeface="Symbol" panose="05050102010706020507" pitchFamily="18" charset="2"/>
              </a:rPr>
              <a:t>j</a:t>
            </a:r>
            <a:r>
              <a:rPr lang="en-US" baseline="-25000" dirty="0">
                <a:sym typeface="Symbol" panose="05050102010706020507" pitchFamily="18" charset="2"/>
              </a:rPr>
              <a:t>=1</a:t>
            </a:r>
            <a:r>
              <a:rPr lang="en-US" baseline="30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j) / n = n(n+1)/2n</a:t>
            </a:r>
          </a:p>
          <a:p>
            <a:pPr marL="914400" lvl="2" indent="0">
              <a:buNone/>
            </a:pPr>
            <a:r>
              <a:rPr lang="en-US" dirty="0">
                <a:sym typeface="Symbol" panose="05050102010706020507" pitchFamily="18" charset="2"/>
              </a:rPr>
              <a:t>= (n+1)/2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9A6F-E038-4B0A-9EB7-1F5E8EB4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serial search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D2F8E-25CC-4156-BC07-76039B8E1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case running time of serial search is O(1) = constant</a:t>
            </a:r>
          </a:p>
          <a:p>
            <a:r>
              <a:rPr lang="en-US" dirty="0"/>
              <a:t>Worst case running time of serial search is O(n)</a:t>
            </a:r>
          </a:p>
          <a:p>
            <a:r>
              <a:rPr lang="en-US" dirty="0"/>
              <a:t>Average case running time is O((n+1)/2) = O(n)</a:t>
            </a:r>
          </a:p>
          <a:p>
            <a:pPr lvl="1"/>
            <a:r>
              <a:rPr lang="en-US" dirty="0"/>
              <a:t> = O(n/2) + O(1/2) = O(n) + O(1) = O(n)</a:t>
            </a:r>
          </a:p>
          <a:p>
            <a:pPr lvl="1"/>
            <a:r>
              <a:rPr lang="en-US" dirty="0"/>
              <a:t>Because O(an) = O(n) for a &gt; 0, </a:t>
            </a:r>
          </a:p>
          <a:p>
            <a:pPr lvl="1"/>
            <a:r>
              <a:rPr lang="en-US" dirty="0"/>
              <a:t>and O(f(n)) + O(g(n)) = max ( O(f(n)), O(g(n)) )</a:t>
            </a:r>
          </a:p>
          <a:p>
            <a:pPr lvl="1"/>
            <a:r>
              <a:rPr lang="en-US" dirty="0"/>
              <a:t>Again, this assumes that stopping at any point is equally likely.</a:t>
            </a:r>
          </a:p>
        </p:txBody>
      </p:sp>
    </p:spTree>
    <p:extLst>
      <p:ext uri="{BB962C8B-B14F-4D97-AF65-F5344CB8AC3E}">
        <p14:creationId xmlns:p14="http://schemas.microsoft.com/office/powerpoint/2010/main" val="373163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835F-1F4B-4F41-87D4-DA79D7A1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3570F-E057-43A0-AD34-372061270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we’re talking about binary search of a sorted List.</a:t>
            </a:r>
          </a:p>
          <a:p>
            <a:r>
              <a:rPr lang="en-US" dirty="0"/>
              <a:t>It really only works for arrays</a:t>
            </a:r>
          </a:p>
          <a:p>
            <a:r>
              <a:rPr lang="en-US" dirty="0"/>
              <a:t>It can be simulated for linked lists with a lot of overhead</a:t>
            </a:r>
          </a:p>
          <a:p>
            <a:pPr lvl="1"/>
            <a:r>
              <a:rPr lang="en-US" dirty="0"/>
              <a:t>Using something called a </a:t>
            </a:r>
            <a:r>
              <a:rPr lang="en-US" i="1" dirty="0"/>
              <a:t>Skip List</a:t>
            </a:r>
            <a:r>
              <a:rPr lang="en-US" dirty="0"/>
              <a:t> (not covered)</a:t>
            </a:r>
          </a:p>
          <a:p>
            <a:r>
              <a:rPr lang="en-US" dirty="0"/>
              <a:t>Algorithm: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Assume, the list is sorted in ascending order: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Start at the middle element in list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is that middle element equal to </a:t>
            </a:r>
            <a:r>
              <a:rPr lang="en-US" altLang="x-none" i="1" dirty="0"/>
              <a:t>target</a:t>
            </a:r>
            <a:r>
              <a:rPr lang="en-US" altLang="x-none" dirty="0"/>
              <a:t>?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If not, is the middle element is less than or greater than </a:t>
            </a:r>
            <a:r>
              <a:rPr lang="en-US" altLang="x-none" i="1" dirty="0"/>
              <a:t>target</a:t>
            </a:r>
            <a:r>
              <a:rPr lang="en-US" altLang="x-none" dirty="0"/>
              <a:t>?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If less than, then move to second half of list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If greater than, move to first half of list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x-none" dirty="0"/>
              <a:t>repeat until </a:t>
            </a:r>
            <a:r>
              <a:rPr lang="en-US" altLang="x-none" i="1" dirty="0"/>
              <a:t>target</a:t>
            </a:r>
            <a:r>
              <a:rPr lang="en-US" altLang="x-none" dirty="0"/>
              <a:t> is found or sub-list size = 0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3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7636-395E-428C-8BCF-388B268E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03AB5-8E2F-449E-B829-F075252E0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Search is our first example of an algorithmic design principle called </a:t>
            </a:r>
            <a:r>
              <a:rPr lang="en-US" i="1" dirty="0"/>
              <a:t>Divide and Conquer</a:t>
            </a:r>
          </a:p>
          <a:p>
            <a:pPr lvl="1"/>
            <a:r>
              <a:rPr lang="en-US" i="1" dirty="0"/>
              <a:t>Divide</a:t>
            </a:r>
            <a:r>
              <a:rPr lang="en-US" dirty="0"/>
              <a:t> a problem up into subproblems</a:t>
            </a:r>
          </a:p>
          <a:p>
            <a:pPr lvl="1"/>
            <a:r>
              <a:rPr lang="en-US" i="1" dirty="0"/>
              <a:t>Conquer</a:t>
            </a:r>
            <a:r>
              <a:rPr lang="en-US" dirty="0"/>
              <a:t> each individual subproblem</a:t>
            </a:r>
          </a:p>
          <a:p>
            <a:pPr lvl="1"/>
            <a:r>
              <a:rPr lang="en-US" dirty="0"/>
              <a:t>In some cases, </a:t>
            </a:r>
            <a:r>
              <a:rPr lang="en-US" i="1" dirty="0"/>
              <a:t>combine</a:t>
            </a:r>
            <a:r>
              <a:rPr lang="en-US" dirty="0"/>
              <a:t> solutions of conquered subproblems to get final answer</a:t>
            </a:r>
          </a:p>
          <a:p>
            <a:pPr lvl="2"/>
            <a:r>
              <a:rPr lang="en-US" dirty="0"/>
              <a:t>Not done in binary search </a:t>
            </a:r>
          </a:p>
        </p:txBody>
      </p:sp>
    </p:spTree>
    <p:extLst>
      <p:ext uri="{BB962C8B-B14F-4D97-AF65-F5344CB8AC3E}">
        <p14:creationId xmlns:p14="http://schemas.microsoft.com/office/powerpoint/2010/main" val="256757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1444-9F27-4649-915E-0E0FD203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Divide &amp;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1D4DB-A3EF-4212-B6BC-797C70AA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838200"/>
            <a:ext cx="8991600" cy="59436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36335D-95D3-41B1-9D83-1205C12A8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24" y="1219200"/>
            <a:ext cx="7239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A53B134-9347-49FF-A339-183EE4CCF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004876"/>
            <a:ext cx="8153400" cy="290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2000" dirty="0">
                <a:latin typeface="Courier New" charset="0"/>
                <a:ea typeface="Courier New" charset="0"/>
                <a:cs typeface="Courier New" charset="0"/>
              </a:rPr>
              <a:t>   low </a:t>
            </a:r>
            <a:r>
              <a:rPr lang="en-US" altLang="x-none" sz="2000" dirty="0"/>
              <a:t>	                            </a:t>
            </a:r>
            <a:r>
              <a:rPr lang="en-US" altLang="x-none" sz="2000" dirty="0">
                <a:latin typeface="Courier New" charset="0"/>
                <a:ea typeface="Courier New" charset="0"/>
                <a:cs typeface="Courier New" charset="0"/>
              </a:rPr>
              <a:t>middle	</a:t>
            </a:r>
            <a:r>
              <a:rPr lang="en-US" altLang="x-none" sz="2000" dirty="0"/>
              <a:t>	             </a:t>
            </a:r>
            <a:r>
              <a:rPr lang="en-US" altLang="x-none" sz="2000" dirty="0">
                <a:latin typeface="Courier New" charset="0"/>
                <a:ea typeface="Courier New" charset="0"/>
                <a:cs typeface="Courier New" charset="0"/>
              </a:rPr>
              <a:t>high </a:t>
            </a:r>
          </a:p>
          <a:p>
            <a:pPr eaLnBrk="1" hangingPunct="1"/>
            <a:endParaRPr lang="en-US" altLang="x-none" sz="2000" dirty="0"/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x-none" sz="2000" dirty="0"/>
              <a:t>Set middle = ( high + low ) / 2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x-none" sz="2000" dirty="0"/>
              <a:t>Is the </a:t>
            </a:r>
            <a:r>
              <a:rPr lang="en-US" altLang="x-none" sz="2000" i="1" dirty="0">
                <a:latin typeface="Courier New" charset="0"/>
                <a:ea typeface="Courier New" charset="0"/>
                <a:cs typeface="Courier New" charset="0"/>
              </a:rPr>
              <a:t>middle</a:t>
            </a:r>
            <a:r>
              <a:rPr lang="en-US" altLang="x-none" sz="2000" dirty="0"/>
              <a:t> item equals to </a:t>
            </a:r>
            <a:r>
              <a:rPr lang="en-US" altLang="x-none" sz="2000" i="1" dirty="0">
                <a:latin typeface="Courier New" charset="0"/>
                <a:ea typeface="Courier New" charset="0"/>
                <a:cs typeface="Courier New" charset="0"/>
              </a:rPr>
              <a:t>target</a:t>
            </a:r>
            <a:r>
              <a:rPr lang="en-US" altLang="x-none" sz="2000" dirty="0"/>
              <a:t>? </a:t>
            </a:r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x-none" sz="2000" dirty="0"/>
              <a:t>If not, then check whether it is greater than or less than </a:t>
            </a:r>
            <a:r>
              <a:rPr lang="en-US" altLang="x-none" sz="2000" i="1" dirty="0">
                <a:latin typeface="Courier New" charset="0"/>
                <a:ea typeface="Courier New" charset="0"/>
                <a:cs typeface="Courier New" charset="0"/>
              </a:rPr>
              <a:t>target</a:t>
            </a:r>
            <a:r>
              <a:rPr lang="en-US" altLang="x-none" sz="2000" i="1" dirty="0"/>
              <a:t>? </a:t>
            </a:r>
            <a:endParaRPr lang="en-US" altLang="x-none" sz="2000" dirty="0"/>
          </a:p>
          <a:p>
            <a:pPr marL="342900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x-none" sz="2000" dirty="0"/>
              <a:t>If the </a:t>
            </a:r>
            <a:r>
              <a:rPr lang="en-US" altLang="x-none" sz="2000" i="1" dirty="0">
                <a:latin typeface="Courier New" charset="0"/>
                <a:ea typeface="Courier New" charset="0"/>
                <a:cs typeface="Courier New" charset="0"/>
              </a:rPr>
              <a:t>middle</a:t>
            </a:r>
            <a:r>
              <a:rPr lang="en-US" altLang="x-none" sz="2000" dirty="0"/>
              <a:t> is greater than </a:t>
            </a:r>
            <a:r>
              <a:rPr lang="en-US" altLang="x-none" sz="2000" i="1" dirty="0">
                <a:latin typeface="Courier New" charset="0"/>
                <a:ea typeface="Courier New" charset="0"/>
                <a:cs typeface="Courier New" charset="0"/>
              </a:rPr>
              <a:t>target</a:t>
            </a:r>
            <a:r>
              <a:rPr lang="en-US" altLang="x-none" sz="2000" dirty="0"/>
              <a:t>, then the next </a:t>
            </a:r>
            <a:r>
              <a:rPr lang="en-US" altLang="x-none" sz="2000" i="1" dirty="0">
                <a:latin typeface="Courier New" charset="0"/>
                <a:ea typeface="Courier New" charset="0"/>
                <a:cs typeface="Courier New" charset="0"/>
              </a:rPr>
              <a:t>middle</a:t>
            </a:r>
            <a:r>
              <a:rPr lang="en-US" altLang="x-none" sz="2000" dirty="0"/>
              <a:t> is the middle element of the sub-list before current middle</a:t>
            </a:r>
            <a:r>
              <a:rPr lang="en-US" altLang="x-none" dirty="0"/>
              <a:t>	</a:t>
            </a: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B05D3114-BCD6-4916-81FD-F0CCED0EA7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1324" y="1676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BAAD7F32-BF30-4692-8D2D-D16628C4F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3724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7688F7B2-BE02-463A-B20C-F42DF54EC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15524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BAAAFF61-49F3-4D40-BC0D-7099437C3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4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3DA207CA-69D8-4CC3-ACCC-FBDBC5659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5124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5D4B986-33E6-4306-A490-B80D03D63A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1924" y="1676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4BD733B4-E756-4583-AF75-32D9A6646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67924" y="1676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8EED00E5-6BB5-477C-B7FC-BF8DCE706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4" y="4961696"/>
            <a:ext cx="7239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x-none" altLang="x-none"/>
          </a:p>
        </p:txBody>
      </p:sp>
      <p:sp>
        <p:nvSpPr>
          <p:cNvPr id="14" name="Text Box 33">
            <a:extLst>
              <a:ext uri="{FF2B5EF4-FFF2-40B4-BE49-F238E27FC236}">
                <a16:creationId xmlns:a16="http://schemas.microsoft.com/office/drawing/2014/main" id="{0DD3A711-12C0-4FFA-B462-BF0E0CC6A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9772" y="5777864"/>
            <a:ext cx="73324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2000" dirty="0">
                <a:latin typeface="Courier New" charset="0"/>
                <a:ea typeface="Courier New" charset="0"/>
                <a:cs typeface="Courier New" charset="0"/>
              </a:rPr>
              <a:t>    low 	middle      high </a:t>
            </a:r>
            <a:br>
              <a:rPr lang="en-US" altLang="x-none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altLang="x-none" sz="2000" dirty="0"/>
              <a:t>		 				and so forth…</a:t>
            </a:r>
          </a:p>
        </p:txBody>
      </p:sp>
      <p:sp>
        <p:nvSpPr>
          <p:cNvPr id="15" name="Line 34">
            <a:extLst>
              <a:ext uri="{FF2B5EF4-FFF2-40B4-BE49-F238E27FC236}">
                <a16:creationId xmlns:a16="http://schemas.microsoft.com/office/drawing/2014/main" id="{E7E1F85C-F16F-4094-A550-B034086D17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4292" y="537456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5">
            <a:extLst>
              <a:ext uri="{FF2B5EF4-FFF2-40B4-BE49-F238E27FC236}">
                <a16:creationId xmlns:a16="http://schemas.microsoft.com/office/drawing/2014/main" id="{383283ED-B550-4656-90B9-4E4784CB0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1440" y="4961696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7">
            <a:extLst>
              <a:ext uri="{FF2B5EF4-FFF2-40B4-BE49-F238E27FC236}">
                <a16:creationId xmlns:a16="http://schemas.microsoft.com/office/drawing/2014/main" id="{343D8632-D453-4BBF-B388-6B2D7F0AF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4624" y="497194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8">
            <a:extLst>
              <a:ext uri="{FF2B5EF4-FFF2-40B4-BE49-F238E27FC236}">
                <a16:creationId xmlns:a16="http://schemas.microsoft.com/office/drawing/2014/main" id="{EC0DA7AC-F21C-4EB3-A9CD-5714236F5B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4652" y="497194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9">
            <a:extLst>
              <a:ext uri="{FF2B5EF4-FFF2-40B4-BE49-F238E27FC236}">
                <a16:creationId xmlns:a16="http://schemas.microsoft.com/office/drawing/2014/main" id="{AA2DD96B-D87E-4A66-BE09-71E7C9C3CC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5882" y="537456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0">
            <a:extLst>
              <a:ext uri="{FF2B5EF4-FFF2-40B4-BE49-F238E27FC236}">
                <a16:creationId xmlns:a16="http://schemas.microsoft.com/office/drawing/2014/main" id="{BF8C62A1-1A6E-402C-A19D-502FE35C97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0324" y="537456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2">
            <a:extLst>
              <a:ext uri="{FF2B5EF4-FFF2-40B4-BE49-F238E27FC236}">
                <a16:creationId xmlns:a16="http://schemas.microsoft.com/office/drawing/2014/main" id="{AB3209B6-5D67-4E6D-9227-7DE8682B5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1392" y="4961696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3">
            <a:extLst>
              <a:ext uri="{FF2B5EF4-FFF2-40B4-BE49-F238E27FC236}">
                <a16:creationId xmlns:a16="http://schemas.microsoft.com/office/drawing/2014/main" id="{46F95F11-B210-48F1-BAD9-CADD96D97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817" y="497194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44">
            <a:extLst>
              <a:ext uri="{FF2B5EF4-FFF2-40B4-BE49-F238E27FC236}">
                <a16:creationId xmlns:a16="http://schemas.microsoft.com/office/drawing/2014/main" id="{A5FBEC61-9FED-4597-AE58-E064ACA26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036" y="497194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3EF0C1F-E256-4785-A19F-B822EF6B0652}"/>
                  </a:ext>
                </a:extLst>
              </p14:cNvPr>
              <p14:cNvContentPartPr/>
              <p14:nvPr/>
            </p14:nvContentPartPr>
            <p14:xfrm>
              <a:off x="6507136" y="1270628"/>
              <a:ext cx="154080" cy="2048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3EF0C1F-E256-4785-A19F-B822EF6B06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1136" y="1198628"/>
                <a:ext cx="2257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2A1E657-3B3D-4630-9BEA-1210C89CA189}"/>
                  </a:ext>
                </a:extLst>
              </p14:cNvPr>
              <p14:cNvContentPartPr/>
              <p14:nvPr/>
            </p14:nvContentPartPr>
            <p14:xfrm>
              <a:off x="6626656" y="5022188"/>
              <a:ext cx="163080" cy="2700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2A1E657-3B3D-4630-9BEA-1210C89CA1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656" y="4950188"/>
                <a:ext cx="234720" cy="41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076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Example 1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1" y="715962"/>
            <a:ext cx="7978307" cy="5989638"/>
          </a:xfrm>
        </p:spPr>
      </p:pic>
    </p:spTree>
    <p:extLst>
      <p:ext uri="{BB962C8B-B14F-4D97-AF65-F5344CB8AC3E}">
        <p14:creationId xmlns:p14="http://schemas.microsoft.com/office/powerpoint/2010/main" val="1920330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3100-AB1F-491F-9ED5-B9BD4BEB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Example 2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38F64A4-922B-49B5-8CFB-DC599F92F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846" y="1371600"/>
            <a:ext cx="893156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12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53F5-AF68-4B67-8542-5873F418B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Binary Search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9C7-646B-4DBF-86F3-ADD6D2BC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public static int </a:t>
            </a:r>
            <a:r>
              <a:rPr lang="en-US" sz="2100" dirty="0" err="1">
                <a:latin typeface="Consolas" panose="020B0609020204030204" pitchFamily="49" charset="0"/>
                <a:ea typeface="Courier New" charset="0"/>
                <a:cs typeface="Courier New" charset="0"/>
              </a:rPr>
              <a:t>itBinSrch</a:t>
            </a: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( E [] data, E target){ 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int result = -1;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int low = 0;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int high = </a:t>
            </a:r>
            <a:r>
              <a:rPr lang="en-US" sz="2100" dirty="0" err="1">
                <a:latin typeface="Consolas" panose="020B0609020204030204" pitchFamily="49" charset="0"/>
                <a:ea typeface="Courier New" charset="0"/>
                <a:cs typeface="Courier New" charset="0"/>
              </a:rPr>
              <a:t>data.length</a:t>
            </a: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 - 1;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int middle = -1;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while( result == -1 &amp;&amp; low &lt;= high ){ 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middle = low + ((high - low) / 2);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if( </a:t>
            </a:r>
            <a:r>
              <a:rPr lang="en-US" sz="2100" dirty="0" err="1">
                <a:latin typeface="Consolas" panose="020B0609020204030204" pitchFamily="49" charset="0"/>
                <a:ea typeface="Courier New" charset="0"/>
                <a:cs typeface="Courier New" charset="0"/>
              </a:rPr>
              <a:t>target.equals</a:t>
            </a: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( data[middle] ) ) {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	result = middle;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}else if( </a:t>
            </a:r>
            <a:r>
              <a:rPr lang="en-US" sz="2100" dirty="0" err="1">
                <a:latin typeface="Consolas" panose="020B0609020204030204" pitchFamily="49" charset="0"/>
                <a:ea typeface="Courier New" charset="0"/>
                <a:cs typeface="Courier New" charset="0"/>
              </a:rPr>
              <a:t>target.compareTo</a:t>
            </a: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( data[middle] ) &gt; 0 ) {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	// Probe was too low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	low = middle + 1;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}else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	// Probe was too high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		high = middle - 1;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                 }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}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	return result;</a:t>
            </a:r>
          </a:p>
          <a:p>
            <a:pPr marL="0" indent="0">
              <a:buNone/>
            </a:pPr>
            <a:r>
              <a:rPr lang="en-US" sz="2100" dirty="0">
                <a:latin typeface="Consolas" panose="020B0609020204030204" pitchFamily="49" charset="0"/>
                <a:ea typeface="Courier New" charset="0"/>
                <a:cs typeface="Courier New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69C268-A524-4763-806C-DD9A27F09556}"/>
              </a:ext>
            </a:extLst>
          </p:cNvPr>
          <p:cNvGrpSpPr/>
          <p:nvPr/>
        </p:nvGrpSpPr>
        <p:grpSpPr>
          <a:xfrm>
            <a:off x="6584896" y="1709108"/>
            <a:ext cx="202680" cy="153360"/>
            <a:chOff x="5060896" y="1709108"/>
            <a:chExt cx="202680" cy="1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282A7B-40DE-43FB-9FF8-D68E53B69428}"/>
                    </a:ext>
                  </a:extLst>
                </p14:cNvPr>
                <p14:cNvContentPartPr/>
                <p14:nvPr/>
              </p14:nvContentPartPr>
              <p14:xfrm>
                <a:off x="5060896" y="1725308"/>
                <a:ext cx="19440" cy="137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282A7B-40DE-43FB-9FF8-D68E53B694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56576" y="1720988"/>
                  <a:ext cx="28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CCDC7C8-4543-4AF2-84C5-93E075DD99E5}"/>
                    </a:ext>
                  </a:extLst>
                </p14:cNvPr>
                <p14:cNvContentPartPr/>
                <p14:nvPr/>
              </p14:nvContentPartPr>
              <p14:xfrm>
                <a:off x="5144416" y="1709108"/>
                <a:ext cx="87120" cy="82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CCDC7C8-4543-4AF2-84C5-93E075DD99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40096" y="1704788"/>
                  <a:ext cx="95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9AE855-ACC0-4F47-BD60-F9BBFDD6C49A}"/>
                    </a:ext>
                  </a:extLst>
                </p14:cNvPr>
                <p14:cNvContentPartPr/>
                <p14:nvPr/>
              </p14:nvContentPartPr>
              <p14:xfrm>
                <a:off x="5223976" y="1717028"/>
                <a:ext cx="39600" cy="136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9AE855-ACC0-4F47-BD60-F9BBFDD6C4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19656" y="1712708"/>
                  <a:ext cx="48240" cy="14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9697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C565-E9AB-45CB-B3D0-E90319AC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6FC71-8F6F-4098-8A53-33BDEE1A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Again, if checks for &lt;, =, &gt; are constant time, all operations are constant time operations.  </a:t>
            </a:r>
          </a:p>
          <a:p>
            <a:r>
              <a:rPr lang="en-US" sz="2400" dirty="0"/>
              <a:t>So the running time is based on the number of comparisons.</a:t>
            </a:r>
          </a:p>
          <a:p>
            <a:r>
              <a:rPr lang="en-US" sz="2400" dirty="0"/>
              <a:t>If n = 2</a:t>
            </a:r>
            <a:r>
              <a:rPr lang="en-US" sz="2400" baseline="30000" dirty="0"/>
              <a:t>k</a:t>
            </a:r>
            <a:r>
              <a:rPr lang="en-US" sz="2400" dirty="0"/>
              <a:t>, there are at most log</a:t>
            </a:r>
            <a:r>
              <a:rPr lang="en-US" sz="2400" baseline="-25000" dirty="0"/>
              <a:t>2</a:t>
            </a:r>
            <a:r>
              <a:rPr lang="en-US" sz="2400" dirty="0"/>
              <a:t>n comparisons.</a:t>
            </a:r>
          </a:p>
          <a:p>
            <a:r>
              <a:rPr lang="en-US" sz="2400" dirty="0"/>
              <a:t>If n = 2</a:t>
            </a:r>
            <a:r>
              <a:rPr lang="en-US" sz="2400" baseline="30000" dirty="0"/>
              <a:t>k</a:t>
            </a:r>
            <a:r>
              <a:rPr lang="en-US" sz="2400" dirty="0"/>
              <a:t> – 1, there are at most </a:t>
            </a:r>
            <a:r>
              <a:rPr lang="en-US" sz="2400" dirty="0">
                <a:sym typeface="Symbol" panose="05050102010706020507" pitchFamily="18" charset="2"/>
              </a:rPr>
              <a:t>log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n comparisons. (worst case)</a:t>
            </a:r>
          </a:p>
          <a:p>
            <a:pPr marL="0" indent="0">
              <a:buNone/>
            </a:pPr>
            <a:endParaRPr lang="en-US" sz="2400" dirty="0">
              <a:sym typeface="Symbol" panose="05050102010706020507" pitchFamily="18" charset="2"/>
            </a:endParaRPr>
          </a:p>
          <a:p>
            <a:endParaRPr lang="en-US" sz="2400" dirty="0">
              <a:sym typeface="Symbol" panose="05050102010706020507" pitchFamily="18" charset="2"/>
            </a:endParaRPr>
          </a:p>
          <a:p>
            <a:endParaRPr lang="en-US" sz="2400" dirty="0">
              <a:sym typeface="Symbol" panose="05050102010706020507" pitchFamily="18" charset="2"/>
            </a:endParaRPr>
          </a:p>
          <a:p>
            <a:endParaRPr lang="en-US" sz="2400" dirty="0">
              <a:sym typeface="Symbol" panose="05050102010706020507" pitchFamily="18" charset="2"/>
            </a:endParaRPr>
          </a:p>
          <a:p>
            <a:r>
              <a:rPr lang="en-US" sz="2400" dirty="0">
                <a:sym typeface="Symbol" panose="05050102010706020507" pitchFamily="18" charset="2"/>
              </a:rPr>
              <a:t>Example:  search for 11 in the array with numbers 1-15</a:t>
            </a:r>
          </a:p>
          <a:p>
            <a:r>
              <a:rPr lang="en-US" sz="2400" dirty="0">
                <a:sym typeface="Symbol" panose="05050102010706020507" pitchFamily="18" charset="2"/>
              </a:rPr>
              <a:t>So binary search is O(log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n ) ≤ O(log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n + 1) = O(log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n) = O(log n)</a:t>
            </a:r>
            <a:endParaRPr lang="en-US" sz="2400" dirty="0"/>
          </a:p>
          <a:p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F3753A3-81DC-4075-98EF-D5EC1FD1E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90508"/>
              </p:ext>
            </p:extLst>
          </p:nvPr>
        </p:nvGraphicFramePr>
        <p:xfrm>
          <a:off x="1828800" y="2799053"/>
          <a:ext cx="80772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79920032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206332096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69491966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1434858078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422816365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1635632344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183778056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499493474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712031267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10048310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221750365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7219968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73757700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3893914458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455997518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304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56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9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546673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ED8C895F-920D-4A56-8FA1-AE7EEDA4F923}"/>
              </a:ext>
            </a:extLst>
          </p:cNvPr>
          <p:cNvGrpSpPr/>
          <p:nvPr/>
        </p:nvGrpSpPr>
        <p:grpSpPr>
          <a:xfrm>
            <a:off x="6674536" y="2445668"/>
            <a:ext cx="439920" cy="271800"/>
            <a:chOff x="5150536" y="2445668"/>
            <a:chExt cx="43992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E5C08BA-E8F6-48A5-81F8-DF3A4C3EA1F5}"/>
                    </a:ext>
                  </a:extLst>
                </p14:cNvPr>
                <p14:cNvContentPartPr/>
                <p14:nvPr/>
              </p14:nvContentPartPr>
              <p14:xfrm>
                <a:off x="5150536" y="2504348"/>
                <a:ext cx="97200" cy="127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E5C08BA-E8F6-48A5-81F8-DF3A4C3EA1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46216" y="2500028"/>
                  <a:ext cx="105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E50A609-BCD5-4652-84C2-9BA877B9459C}"/>
                    </a:ext>
                  </a:extLst>
                </p14:cNvPr>
                <p14:cNvContentPartPr/>
                <p14:nvPr/>
              </p14:nvContentPartPr>
              <p14:xfrm>
                <a:off x="5263216" y="2566268"/>
                <a:ext cx="54360" cy="44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50A609-BCD5-4652-84C2-9BA877B945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58896" y="2561948"/>
                  <a:ext cx="63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A75047-CC15-4E8A-A299-7933FCEC1559}"/>
                    </a:ext>
                  </a:extLst>
                </p14:cNvPr>
                <p14:cNvContentPartPr/>
                <p14:nvPr/>
              </p14:nvContentPartPr>
              <p14:xfrm>
                <a:off x="5366896" y="2551868"/>
                <a:ext cx="3240" cy="28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A75047-CC15-4E8A-A299-7933FCEC15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62576" y="2547548"/>
                  <a:ext cx="11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C67A93-83D4-44F0-81D3-75BAE4D26EB2}"/>
                    </a:ext>
                  </a:extLst>
                </p14:cNvPr>
                <p14:cNvContentPartPr/>
                <p14:nvPr/>
              </p14:nvContentPartPr>
              <p14:xfrm>
                <a:off x="5381656" y="2445668"/>
                <a:ext cx="25920" cy="150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C67A93-83D4-44F0-81D3-75BAE4D26E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77336" y="2441348"/>
                  <a:ext cx="34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4818FC-F1C1-40EE-842C-FC131F45E7B0}"/>
                    </a:ext>
                  </a:extLst>
                </p14:cNvPr>
                <p14:cNvContentPartPr/>
                <p14:nvPr/>
              </p14:nvContentPartPr>
              <p14:xfrm>
                <a:off x="5457976" y="2491388"/>
                <a:ext cx="23400" cy="88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4818FC-F1C1-40EE-842C-FC131F45E7B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53656" y="2487068"/>
                  <a:ext cx="32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255BED-A9C4-44F4-A693-31501AC69CAA}"/>
                    </a:ext>
                  </a:extLst>
                </p14:cNvPr>
                <p14:cNvContentPartPr/>
                <p14:nvPr/>
              </p14:nvContentPartPr>
              <p14:xfrm>
                <a:off x="5517736" y="2519828"/>
                <a:ext cx="36360" cy="59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255BED-A9C4-44F4-A693-31501AC69C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13416" y="2515508"/>
                  <a:ext cx="450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C8F0B3-AE17-4D1E-BBFE-725A2821B94C}"/>
                    </a:ext>
                  </a:extLst>
                </p14:cNvPr>
                <p14:cNvContentPartPr/>
                <p14:nvPr/>
              </p14:nvContentPartPr>
              <p14:xfrm>
                <a:off x="5524576" y="2551868"/>
                <a:ext cx="65880" cy="16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C8F0B3-AE17-4D1E-BBFE-725A2821B9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20256" y="2547548"/>
                  <a:ext cx="7452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5DBFF4-710E-4742-A80E-944DCB0B4716}"/>
                  </a:ext>
                </a:extLst>
              </p14:cNvPr>
              <p14:cNvContentPartPr/>
              <p14:nvPr/>
            </p14:nvContentPartPr>
            <p14:xfrm>
              <a:off x="8417296" y="5382548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5DBFF4-710E-4742-A80E-944DCB0B471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12976" y="537822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5D84F06-8A83-46C6-A71C-E56F9DC709A3}"/>
                  </a:ext>
                </a:extLst>
              </p14:cNvPr>
              <p14:cNvContentPartPr/>
              <p14:nvPr/>
            </p14:nvContentPartPr>
            <p14:xfrm>
              <a:off x="8401456" y="5430068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5D84F06-8A83-46C6-A71C-E56F9DC709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97136" y="5425748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CA9E8A3-C411-4B03-A7A8-77679094EE8F}"/>
              </a:ext>
            </a:extLst>
          </p:cNvPr>
          <p:cNvGrpSpPr/>
          <p:nvPr/>
        </p:nvGrpSpPr>
        <p:grpSpPr>
          <a:xfrm>
            <a:off x="8218216" y="5390468"/>
            <a:ext cx="360" cy="360"/>
            <a:chOff x="6694216" y="539046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3F78C8-15BE-416F-8CB5-94809F9FF0A9}"/>
                    </a:ext>
                  </a:extLst>
                </p14:cNvPr>
                <p14:cNvContentPartPr/>
                <p14:nvPr/>
              </p14:nvContentPartPr>
              <p14:xfrm>
                <a:off x="6694216" y="5390468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3F78C8-15BE-416F-8CB5-94809F9FF0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9896" y="53861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D23074C-99CA-4BE1-860C-2E17F838CAD8}"/>
                    </a:ext>
                  </a:extLst>
                </p14:cNvPr>
                <p14:cNvContentPartPr/>
                <p14:nvPr/>
              </p14:nvContentPartPr>
              <p14:xfrm>
                <a:off x="6694216" y="5390468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D23074C-99CA-4BE1-860C-2E17F838CAD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9896" y="53861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06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11690</TotalTime>
  <Words>1146</Words>
  <Application>Microsoft Office PowerPoint</Application>
  <PresentationFormat>Widescreen</PresentationFormat>
  <Paragraphs>183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Office Theme</vt:lpstr>
      <vt:lpstr>ICS 240 </vt:lpstr>
      <vt:lpstr>Search</vt:lpstr>
      <vt:lpstr>Topics</vt:lpstr>
      <vt:lpstr>Search</vt:lpstr>
      <vt:lpstr>Serial Search</vt:lpstr>
      <vt:lpstr>Serial Search Array Example</vt:lpstr>
      <vt:lpstr>Running time of Serial Search</vt:lpstr>
      <vt:lpstr>Running time of serial search II</vt:lpstr>
      <vt:lpstr>Binary Search</vt:lpstr>
      <vt:lpstr>Divide and Conquer</vt:lpstr>
      <vt:lpstr>Binary Search Divide &amp; Conquer</vt:lpstr>
      <vt:lpstr>Binary Search Example 1</vt:lpstr>
      <vt:lpstr>Binary Search Example 2</vt:lpstr>
      <vt:lpstr>Iterative Binary Search Pseudocode</vt:lpstr>
      <vt:lpstr>Running Time of Binary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Pairs Shortest Paths</dc:title>
  <dc:creator>Administrator</dc:creator>
  <cp:lastModifiedBy>Stein, Michael</cp:lastModifiedBy>
  <cp:revision>274</cp:revision>
  <cp:lastPrinted>2017-10-02T21:15:06Z</cp:lastPrinted>
  <dcterms:created xsi:type="dcterms:W3CDTF">2015-10-26T15:28:52Z</dcterms:created>
  <dcterms:modified xsi:type="dcterms:W3CDTF">2024-10-25T01:33:34Z</dcterms:modified>
</cp:coreProperties>
</file>